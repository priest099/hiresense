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waste 80% of screening time on candidates who don't qualify.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HireSense eliminates that.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651760" cy="2926080"/>
          </a:xfrm>
          <a:prstGeom prst="rect">
            <a:avLst/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0" y="1115568"/>
            <a:ext cx="3017520" cy="2926080"/>
          </a:xfrm>
          <a:prstGeom prst="rect">
            <a:avLst/>
          </a:prstGeom>
          <a:solidFill>
            <a:srgbClr val="0A2A4A"/>
          </a:solidFill>
          <a:ln w="19050">
            <a:solidFill>
              <a:srgbClr val="1E6F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1115568"/>
            <a:ext cx="2468880" cy="2926080"/>
          </a:xfrm>
          <a:prstGeom prst="rect">
            <a:avLst/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25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17904"/>
            <a:ext cx="2468880" cy="0"/>
          </a:xfrm>
          <a:prstGeom prst="line">
            <a:avLst/>
          </a:prstGeom>
          <a:noFill/>
          <a:ln w="12700">
            <a:solidFill>
              <a:srgbClr val="FF6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64208"/>
            <a:ext cx="292608" cy="292608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" y="1691640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" y="16642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applications overwhelm recruiters, driving up time-to-hire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2441448"/>
            <a:ext cx="292608" cy="292608"/>
          </a:xfrm>
          <a:prstGeom prst="ellipse">
            <a:avLst/>
          </a:prstGeom>
          <a:solidFill>
            <a:srgbClr val="FF9A3C">
              <a:alpha val="70000"/>
            </a:srgbClr>
          </a:solidFill>
          <a:ln w="12700">
            <a:solidFill>
              <a:srgbClr val="FF9A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46888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" y="24414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CVs, profiles &amp; spreadsheets is inconsistent and biased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47472" y="3218688"/>
            <a:ext cx="292608" cy="292608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324612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232" y="32186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misses top talent and promotes the wrong candidates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337560" y="12252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337560" y="1517904"/>
            <a:ext cx="2834640" cy="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364992" y="1664208"/>
            <a:ext cx="292608" cy="292608"/>
          </a:xfrm>
          <a:prstGeom prst="ellipse">
            <a:avLst/>
          </a:prstGeom>
          <a:solidFill>
            <a:srgbClr val="FFD700">
              <a:alpha val="75000"/>
            </a:srgbClr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69164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730752" y="16642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screens every applicant in minutes — Top 10 or Top 20 shortlist auto-generated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64992" y="2441448"/>
            <a:ext cx="292608" cy="292608"/>
          </a:xfrm>
          <a:prstGeom prst="ellipse">
            <a:avLst/>
          </a:prstGeom>
          <a:solidFill>
            <a:srgbClr val="00BFFF">
              <a:alpha val="75000"/>
            </a:srgbClr>
          </a:solidFill>
          <a:ln w="12700">
            <a:solidFill>
              <a:srgbClr val="00BFF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246888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730752" y="2441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scoring across CVs, Umurava profiles, CSV imports &amp; resume URLs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3364992" y="3218688"/>
            <a:ext cx="292608" cy="292608"/>
          </a:xfrm>
          <a:prstGeom prst="ellipse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424" y="3246120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730752" y="32186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explained in plain English — strengths, gaps, match reasoning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3337560" y="3566160"/>
            <a:ext cx="2834640" cy="384048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3337560" y="3566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stay in control.  AI removes the noise.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6537960" y="1225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537960" y="1517904"/>
            <a:ext cx="2286000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510528" y="1591056"/>
            <a:ext cx="2432304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510528" y="1591056"/>
            <a:ext cx="2432304" cy="201168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583680" y="1627632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Screening Results  •  Top 5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6583680" y="186537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M.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7196328" y="1883664"/>
            <a:ext cx="1371600" cy="12801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196328" y="1883664"/>
            <a:ext cx="1261872" cy="12801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613648" y="18653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6583680" y="221284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K.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7196328" y="2231136"/>
            <a:ext cx="1371600" cy="12801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7196328" y="2231136"/>
            <a:ext cx="1193292" cy="12801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8613648" y="22128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6583680" y="25603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N.</a:t>
            </a:r>
            <a:endParaRPr lang="en-US" sz="750" dirty="0"/>
          </a:p>
        </p:txBody>
      </p:sp>
      <p:sp>
        <p:nvSpPr>
          <p:cNvPr id="46" name="Shape 38"/>
          <p:cNvSpPr/>
          <p:nvPr/>
        </p:nvSpPr>
        <p:spPr>
          <a:xfrm>
            <a:off x="7196328" y="2578608"/>
            <a:ext cx="1371600" cy="12801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196328" y="2578608"/>
            <a:ext cx="1110996" cy="12801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8613648" y="25603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750" dirty="0"/>
          </a:p>
        </p:txBody>
      </p:sp>
      <p:sp>
        <p:nvSpPr>
          <p:cNvPr id="49" name="Text 41"/>
          <p:cNvSpPr/>
          <p:nvPr/>
        </p:nvSpPr>
        <p:spPr>
          <a:xfrm>
            <a:off x="6583680" y="290779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R.</a:t>
            </a:r>
            <a:endParaRPr lang="en-US" sz="750" dirty="0"/>
          </a:p>
        </p:txBody>
      </p:sp>
      <p:sp>
        <p:nvSpPr>
          <p:cNvPr id="50" name="Shape 42"/>
          <p:cNvSpPr/>
          <p:nvPr/>
        </p:nvSpPr>
        <p:spPr>
          <a:xfrm>
            <a:off x="7196328" y="2926080"/>
            <a:ext cx="1371600" cy="12801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7196328" y="2926080"/>
            <a:ext cx="1014984" cy="12801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8613648" y="29077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750" dirty="0"/>
          </a:p>
        </p:txBody>
      </p:sp>
      <p:sp>
        <p:nvSpPr>
          <p:cNvPr id="53" name="Text 45"/>
          <p:cNvSpPr/>
          <p:nvPr/>
        </p:nvSpPr>
        <p:spPr>
          <a:xfrm>
            <a:off x="6583680" y="32552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L.</a:t>
            </a:r>
            <a:endParaRPr lang="en-US" sz="750" dirty="0"/>
          </a:p>
        </p:txBody>
      </p:sp>
      <p:sp>
        <p:nvSpPr>
          <p:cNvPr id="54" name="Shape 46"/>
          <p:cNvSpPr/>
          <p:nvPr/>
        </p:nvSpPr>
        <p:spPr>
          <a:xfrm>
            <a:off x="7196328" y="3273552"/>
            <a:ext cx="1371600" cy="12801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7196328" y="3273552"/>
            <a:ext cx="932688" cy="128016"/>
          </a:xfrm>
          <a:prstGeom prst="rect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8613648" y="32552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750" dirty="0"/>
          </a:p>
        </p:txBody>
      </p:sp>
      <p:sp>
        <p:nvSpPr>
          <p:cNvPr id="57" name="Shape 49"/>
          <p:cNvSpPr/>
          <p:nvPr/>
        </p:nvSpPr>
        <p:spPr>
          <a:xfrm>
            <a:off x="6510528" y="3493008"/>
            <a:ext cx="2432304" cy="201168"/>
          </a:xfrm>
          <a:prstGeom prst="rect">
            <a:avLst/>
          </a:prstGeom>
          <a:solidFill>
            <a:srgbClr val="091525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6565392" y="351129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AI-assisted scoring. Human review recommended.</a:t>
            </a:r>
            <a:endParaRPr lang="en-US" sz="600" dirty="0"/>
          </a:p>
        </p:txBody>
      </p:sp>
      <p:sp>
        <p:nvSpPr>
          <p:cNvPr id="59" name="Text 51"/>
          <p:cNvSpPr/>
          <p:nvPr/>
        </p:nvSpPr>
        <p:spPr>
          <a:xfrm>
            <a:off x="6510528" y="376732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hire-sense-omega.vercel.app</a:t>
            </a:r>
            <a:endParaRPr lang="en-US" sz="800" dirty="0"/>
          </a:p>
        </p:txBody>
      </p:sp>
      <p:sp>
        <p:nvSpPr>
          <p:cNvPr id="60" name="Shape 52"/>
          <p:cNvSpPr/>
          <p:nvPr/>
        </p:nvSpPr>
        <p:spPr>
          <a:xfrm>
            <a:off x="0" y="4133088"/>
            <a:ext cx="9144000" cy="100584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0" y="4133088"/>
            <a:ext cx="9144000" cy="0"/>
          </a:xfrm>
          <a:prstGeom prst="line">
            <a:avLst/>
          </a:prstGeom>
          <a:noFill/>
          <a:ln w="19050">
            <a:solidFill>
              <a:srgbClr val="1E6FCC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228600" y="4224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</a:t>
            </a:r>
            <a:endParaRPr lang="en-US" sz="1800" dirty="0"/>
          </a:p>
        </p:txBody>
      </p:sp>
      <p:sp>
        <p:nvSpPr>
          <p:cNvPr id="63" name="Text 55"/>
          <p:cNvSpPr/>
          <p:nvPr/>
        </p:nvSpPr>
        <p:spPr>
          <a:xfrm>
            <a:off x="228600" y="4590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900" dirty="0"/>
          </a:p>
        </p:txBody>
      </p:sp>
      <p:sp>
        <p:nvSpPr>
          <p:cNvPr id="64" name="Text 56"/>
          <p:cNvSpPr/>
          <p:nvPr/>
        </p:nvSpPr>
        <p:spPr>
          <a:xfrm>
            <a:off x="228600" y="4791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Score → Rank</a:t>
            </a:r>
            <a:endParaRPr lang="en-US" sz="750" dirty="0"/>
          </a:p>
        </p:txBody>
      </p:sp>
      <p:sp>
        <p:nvSpPr>
          <p:cNvPr id="65" name="Shape 57"/>
          <p:cNvSpPr/>
          <p:nvPr/>
        </p:nvSpPr>
        <p:spPr>
          <a:xfrm>
            <a:off x="2286000" y="4297680"/>
            <a:ext cx="0" cy="64008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66" name="Text 58"/>
          <p:cNvSpPr/>
          <p:nvPr/>
        </p:nvSpPr>
        <p:spPr>
          <a:xfrm>
            <a:off x="2514600" y="4224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67" name="Text 59"/>
          <p:cNvSpPr/>
          <p:nvPr/>
        </p:nvSpPr>
        <p:spPr>
          <a:xfrm>
            <a:off x="2514600" y="4590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Dimensions</a:t>
            </a:r>
            <a:endParaRPr lang="en-US" sz="900" dirty="0"/>
          </a:p>
        </p:txBody>
      </p:sp>
      <p:sp>
        <p:nvSpPr>
          <p:cNvPr id="68" name="Text 60"/>
          <p:cNvSpPr/>
          <p:nvPr/>
        </p:nvSpPr>
        <p:spPr>
          <a:xfrm>
            <a:off x="2514600" y="4791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· Experience · Education · Culture</a:t>
            </a:r>
            <a:endParaRPr lang="en-US" sz="750" dirty="0"/>
          </a:p>
        </p:txBody>
      </p:sp>
      <p:sp>
        <p:nvSpPr>
          <p:cNvPr id="69" name="Shape 61"/>
          <p:cNvSpPr/>
          <p:nvPr/>
        </p:nvSpPr>
        <p:spPr>
          <a:xfrm>
            <a:off x="4572000" y="4297680"/>
            <a:ext cx="0" cy="64008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0" name="Text 62"/>
          <p:cNvSpPr/>
          <p:nvPr/>
        </p:nvSpPr>
        <p:spPr>
          <a:xfrm>
            <a:off x="4800600" y="4224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10/20</a:t>
            </a:r>
            <a:endParaRPr lang="en-US" sz="1800" dirty="0"/>
          </a:p>
        </p:txBody>
      </p:sp>
      <p:sp>
        <p:nvSpPr>
          <p:cNvPr id="71" name="Text 63"/>
          <p:cNvSpPr/>
          <p:nvPr/>
        </p:nvSpPr>
        <p:spPr>
          <a:xfrm>
            <a:off x="4800600" y="4590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Shortlist</a:t>
            </a:r>
            <a:endParaRPr lang="en-US" sz="900" dirty="0"/>
          </a:p>
        </p:txBody>
      </p:sp>
      <p:sp>
        <p:nvSpPr>
          <p:cNvPr id="72" name="Text 64"/>
          <p:cNvSpPr/>
          <p:nvPr/>
        </p:nvSpPr>
        <p:spPr>
          <a:xfrm>
            <a:off x="4800600" y="4791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Auto-ranked by AI</a:t>
            </a:r>
            <a:endParaRPr lang="en-US" sz="750" dirty="0"/>
          </a:p>
        </p:txBody>
      </p:sp>
      <p:sp>
        <p:nvSpPr>
          <p:cNvPr id="73" name="Shape 65"/>
          <p:cNvSpPr/>
          <p:nvPr/>
        </p:nvSpPr>
        <p:spPr>
          <a:xfrm>
            <a:off x="6858000" y="4297680"/>
            <a:ext cx="0" cy="64008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6903720" y="4224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800" dirty="0"/>
          </a:p>
        </p:txBody>
      </p:sp>
      <p:sp>
        <p:nvSpPr>
          <p:cNvPr id="75" name="Text 67"/>
          <p:cNvSpPr/>
          <p:nvPr/>
        </p:nvSpPr>
        <p:spPr>
          <a:xfrm>
            <a:off x="6903720" y="4590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900" dirty="0"/>
          </a:p>
        </p:txBody>
      </p:sp>
      <p:sp>
        <p:nvSpPr>
          <p:cNvPr id="76" name="Text 68"/>
          <p:cNvSpPr/>
          <p:nvPr/>
        </p:nvSpPr>
        <p:spPr>
          <a:xfrm>
            <a:off x="6903720" y="4791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codebase</a:t>
            </a:r>
            <a:endParaRPr lang="en-US" sz="750" dirty="0"/>
          </a:p>
        </p:txBody>
      </p:sp>
      <p:sp>
        <p:nvSpPr>
          <p:cNvPr id="77" name="Text 69"/>
          <p:cNvSpPr/>
          <p:nvPr/>
        </p:nvSpPr>
        <p:spPr>
          <a:xfrm>
            <a:off x="7498080" y="36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HireSense</a:t>
            </a:r>
            <a:endParaRPr lang="en-US" sz="1400" dirty="0"/>
          </a:p>
        </p:txBody>
      </p:sp>
      <p:sp>
        <p:nvSpPr>
          <p:cNvPr id="78" name="Shape 70"/>
          <p:cNvSpPr/>
          <p:nvPr/>
        </p:nvSpPr>
        <p:spPr>
          <a:xfrm>
            <a:off x="7479792" y="36576"/>
            <a:ext cx="36576" cy="2743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Umurava's ecosystem.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ship.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651760" cy="3127248"/>
          </a:xfrm>
          <a:prstGeom prst="rect">
            <a:avLst/>
          </a:prstGeom>
          <a:solidFill>
            <a:srgbClr val="1624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0" y="914400"/>
            <a:ext cx="2743200" cy="3127248"/>
          </a:xfrm>
          <a:prstGeom prst="rect">
            <a:avLst/>
          </a:prstGeom>
          <a:solidFill>
            <a:srgbClr val="0A1E30"/>
          </a:solidFill>
          <a:ln w="19050">
            <a:solidFill>
              <a:srgbClr val="1E6F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914400"/>
            <a:ext cx="2560320" cy="3127248"/>
          </a:xfrm>
          <a:prstGeom prst="rect">
            <a:avLst/>
          </a:prstGeom>
          <a:solidFill>
            <a:srgbClr val="162436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FLOW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76272" y="1005840"/>
            <a:ext cx="621792" cy="201168"/>
          </a:xfrm>
          <a:prstGeom prst="rect">
            <a:avLst/>
          </a:prstGeom>
          <a:solidFill>
            <a:srgbClr val="1E3A52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100584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v2.0.0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1243584"/>
            <a:ext cx="2468880" cy="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335024"/>
            <a:ext cx="2468880" cy="822960"/>
          </a:xfrm>
          <a:prstGeom prst="rect">
            <a:avLst/>
          </a:prstGeom>
          <a:solidFill>
            <a:srgbClr val="0D223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" y="1389888"/>
            <a:ext cx="256032" cy="25603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1408176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1609344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Umurava Profiles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Resumes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URLs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554480" y="2157984"/>
            <a:ext cx="0" cy="256032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234086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040" y="2286000"/>
            <a:ext cx="2468880" cy="822960"/>
          </a:xfrm>
          <a:prstGeom prst="rect">
            <a:avLst/>
          </a:prstGeom>
          <a:solidFill>
            <a:srgbClr val="0D22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2340864"/>
            <a:ext cx="256032" cy="25603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2359152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— Gemini 2.0 Flash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2560320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Match   40%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    30%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     20%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Fit    10%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554480" y="3108960"/>
            <a:ext cx="0" cy="256032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32918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0040" y="3218688"/>
            <a:ext cx="2468880" cy="822960"/>
          </a:xfrm>
          <a:prstGeom prst="rect">
            <a:avLst/>
          </a:prstGeom>
          <a:solidFill>
            <a:srgbClr val="0D223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" y="3273552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29184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— Gemini 2.5 Pro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" y="3493008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ranking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/ Top 20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· Gaps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reasoning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0040" y="3931920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weights configurable · Zod-validated outputs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337560" y="10058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B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1243584"/>
            <a:ext cx="2560320" cy="0"/>
          </a:xfrm>
          <a:prstGeom prst="line">
            <a:avLst/>
          </a:prstGeom>
          <a:noFill/>
          <a:ln w="12700">
            <a:solidFill>
              <a:srgbClr val="2B8F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1353312"/>
            <a:ext cx="2560320" cy="530352"/>
          </a:xfrm>
          <a:prstGeom prst="rect">
            <a:avLst/>
          </a:prstGeom>
          <a:solidFill>
            <a:srgbClr val="0B1D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7560" y="1353312"/>
            <a:ext cx="54864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1399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56432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(React) · Redux Toolkit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26280" y="19019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37560" y="2020824"/>
            <a:ext cx="2560320" cy="530352"/>
          </a:xfrm>
          <a:prstGeom prst="rect">
            <a:avLst/>
          </a:prstGeom>
          <a:solidFill>
            <a:srgbClr val="0B1D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2020824"/>
            <a:ext cx="54864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AUTH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56432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 Routes · TypeScript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(JWT) · Zod Validation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26280" y="256946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337560" y="2688336"/>
            <a:ext cx="2560320" cy="530352"/>
          </a:xfrm>
          <a:prstGeom prst="rect">
            <a:avLst/>
          </a:prstGeom>
          <a:solidFill>
            <a:srgbClr val="0B1D2E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37560" y="2688336"/>
            <a:ext cx="54864" cy="5303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56432" y="27340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456432" y="2907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— 3-Stage Pipeline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v2.0.0 · Parallel Scoring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526280" y="32369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37560" y="3355848"/>
            <a:ext cx="2560320" cy="530352"/>
          </a:xfrm>
          <a:prstGeom prst="rect">
            <a:avLst/>
          </a:prstGeom>
          <a:solidFill>
            <a:srgbClr val="0B1D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37560" y="3355848"/>
            <a:ext cx="54864" cy="5303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56432" y="34015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456432" y="3575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· Mongoose ODM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· Candidates · Sessions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337560" y="3877056"/>
            <a:ext cx="2560320" cy="164592"/>
          </a:xfrm>
          <a:prstGeom prst="rect">
            <a:avLst/>
          </a:prstGeom>
          <a:solidFill>
            <a:srgbClr val="0B1D2E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37560" y="38770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Deployed: Vercel + MongoDB Atlas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46520" y="10058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UMURAVA-READY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46520" y="1243584"/>
            <a:ext cx="2377440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73952" y="1389888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3952" y="1380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29984" y="13533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Umurava Talent Schema natively integrated — drop-in compatible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473952" y="1819656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73952" y="1810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729984" y="1783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at every step — recruiter owns final calls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473952" y="2249424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73952" y="2240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729984" y="22128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pipeline — shortlisted → interview → rejected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473952" y="2679192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3952" y="2670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729984" y="26426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explainability — every score has a plain-English reason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473952" y="3108960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73952" y="3099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729984" y="30723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CV, PDF, CSV, resume URL — any applicant source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473952" y="3538728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73952" y="3529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729984" y="35021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SSRF-protected URL import — production security standards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446520" y="3858768"/>
            <a:ext cx="2468880" cy="201168"/>
          </a:xfrm>
          <a:prstGeom prst="rect">
            <a:avLst/>
          </a:prstGeom>
          <a:solidFill>
            <a:srgbClr val="091525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73952" y="3877056"/>
            <a:ext cx="768096" cy="164592"/>
          </a:xfrm>
          <a:prstGeom prst="rect">
            <a:avLst/>
          </a:prstGeom>
          <a:solidFill>
            <a:srgbClr val="00C896">
              <a:alpha val="4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73952" y="3877056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7296912" y="3877056"/>
            <a:ext cx="768096" cy="164592"/>
          </a:xfrm>
          <a:prstGeom prst="rect">
            <a:avLst/>
          </a:prstGeom>
          <a:solidFill>
            <a:srgbClr val="00BFFF">
              <a:alpha val="40000"/>
            </a:srgbClr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96912" y="3877056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8119872" y="3877056"/>
            <a:ext cx="768096" cy="164592"/>
          </a:xfrm>
          <a:prstGeom prst="rect">
            <a:avLst/>
          </a:prstGeom>
          <a:solidFill>
            <a:srgbClr val="FF6B6B">
              <a:alpha val="4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119872" y="3877056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0" y="4133088"/>
            <a:ext cx="9144000" cy="1005840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4320" y="4270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hire-sense-omega.vercel.app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274320" y="45720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github.com/PRIEST099/HireSense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572000" y="4270248"/>
            <a:ext cx="0" cy="7132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54880" y="422452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"HireSense isn't a hackathon prototype.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screening tool Umurava's recruiters will use tomorrow."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498080" y="36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HireSense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7479792" y="36576"/>
            <a:ext cx="36576" cy="2743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HireSense — AI Recruiting Platform</dc:title>
  <dc:subject>PptxGenJS Presentation</dc:subject>
  <dc:creator>PptxGenJS</dc:creator>
  <cp:lastModifiedBy>PptxGenJS</cp:lastModifiedBy>
  <cp:revision>1</cp:revision>
  <dcterms:created xsi:type="dcterms:W3CDTF">2026-04-24T20:32:47Z</dcterms:created>
  <dcterms:modified xsi:type="dcterms:W3CDTF">2026-04-24T20:32:47Z</dcterms:modified>
</cp:coreProperties>
</file>